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2dd55dd1f44c9" /><Relationship Type="http://schemas.openxmlformats.org/officeDocument/2006/relationships/extended-properties" Target="/docProps/app.xml" Id="R7e43ffba5ceb46cb" /><Relationship Type="http://schemas.openxmlformats.org/officeDocument/2006/relationships/officeDocument" Target="/ppt/presentation.xml" Id="R12c150c06611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f4ef55257b45c4"/>
  </p:sldMasterIdLst>
  <p:notesMasterIdLst>
    <p:notesMasterId xmlns:r="http://schemas.openxmlformats.org/officeDocument/2006/relationships" r:id="Rab0ff30d57a641a6"/>
  </p:notesMasterIdLst>
  <p:sldIdLst>
    <p:sldId xmlns:r="http://schemas.openxmlformats.org/officeDocument/2006/relationships" id="256" r:id="R878e3ccc442b47f1"/>
    <p:sldId xmlns:r="http://schemas.openxmlformats.org/officeDocument/2006/relationships" id="257" r:id="R14d739c838c341d3"/>
    <p:sldId xmlns:r="http://schemas.openxmlformats.org/officeDocument/2006/relationships" id="258" r:id="R9a10be1d1a034163"/>
    <p:sldId xmlns:r="http://schemas.openxmlformats.org/officeDocument/2006/relationships" id="259" r:id="R212d4dc2ddec40ef"/>
    <p:sldId xmlns:r="http://schemas.openxmlformats.org/officeDocument/2006/relationships" id="260" r:id="R0ad01171eb814bd0"/>
    <p:sldId xmlns:r="http://schemas.openxmlformats.org/officeDocument/2006/relationships" id="261" r:id="Rf44f66cd0129463f"/>
    <p:sldId xmlns:r="http://schemas.openxmlformats.org/officeDocument/2006/relationships" id="262" r:id="R7681c3d938584c66"/>
    <p:sldId xmlns:r="http://schemas.openxmlformats.org/officeDocument/2006/relationships" id="263" r:id="Re7ce2e766a634d10"/>
    <p:sldId xmlns:r="http://schemas.openxmlformats.org/officeDocument/2006/relationships" id="264" r:id="Ra42af3050308474e"/>
    <p:sldId xmlns:r="http://schemas.openxmlformats.org/officeDocument/2006/relationships" id="265" r:id="Ra09d403d26fd449c"/>
    <p:sldId xmlns:r="http://schemas.openxmlformats.org/officeDocument/2006/relationships" id="266" r:id="Rac2e85a1e88044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1238d1dbf44960" /><Relationship Type="http://schemas.openxmlformats.org/officeDocument/2006/relationships/slideMaster" Target="/ppt/slideMasters/slideMaster1.xml" Id="R2df4ef55257b45c4" /><Relationship Type="http://schemas.openxmlformats.org/officeDocument/2006/relationships/notesMaster" Target="/ppt/notesMasters/notesMaster1.xml" Id="Rab0ff30d57a641a6" /><Relationship Type="http://schemas.openxmlformats.org/officeDocument/2006/relationships/presProps" Target="/ppt/presProps.xml" Id="Rb41f2a008ffc4158" /><Relationship Type="http://schemas.openxmlformats.org/officeDocument/2006/relationships/tableStyles" Target="/ppt/tableStyles.xml" Id="Re0ff3510c6934ec7" /><Relationship Type="http://schemas.openxmlformats.org/officeDocument/2006/relationships/slide" Target="/ppt/slides/slide1.xml" Id="R878e3ccc442b47f1" /><Relationship Type="http://schemas.openxmlformats.org/officeDocument/2006/relationships/slide" Target="/ppt/slides/slide2.xml" Id="R14d739c838c341d3" /><Relationship Type="http://schemas.openxmlformats.org/officeDocument/2006/relationships/slide" Target="/ppt/slides/slide3.xml" Id="R9a10be1d1a034163" /><Relationship Type="http://schemas.openxmlformats.org/officeDocument/2006/relationships/slide" Target="/ppt/slides/slide4.xml" Id="R212d4dc2ddec40ef" /><Relationship Type="http://schemas.openxmlformats.org/officeDocument/2006/relationships/slide" Target="/ppt/slides/slide5.xml" Id="R0ad01171eb814bd0" /><Relationship Type="http://schemas.openxmlformats.org/officeDocument/2006/relationships/slide" Target="/ppt/slides/slide6.xml" Id="Rf44f66cd0129463f" /><Relationship Type="http://schemas.openxmlformats.org/officeDocument/2006/relationships/slide" Target="/ppt/slides/slide7.xml" Id="R7681c3d938584c66" /><Relationship Type="http://schemas.openxmlformats.org/officeDocument/2006/relationships/slide" Target="/ppt/slides/slide8.xml" Id="Re7ce2e766a634d10" /><Relationship Type="http://schemas.openxmlformats.org/officeDocument/2006/relationships/slide" Target="/ppt/slides/slide9.xml" Id="Ra42af3050308474e" /><Relationship Type="http://schemas.openxmlformats.org/officeDocument/2006/relationships/slide" Target="/ppt/slides/slide10.xml" Id="Ra09d403d26fd449c" /><Relationship Type="http://schemas.openxmlformats.org/officeDocument/2006/relationships/slide" Target="/ppt/slides/slide11.xml" Id="Rac2e85a1e88044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b3fe0b31184a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b9edcb337d4fe3" /><Relationship Type="http://schemas.openxmlformats.org/officeDocument/2006/relationships/notesMaster" Target="/ppt/notesMasters/notesMaster1.xml" Id="Rb46675179c26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28734a70b4661" /><Relationship Type="http://schemas.openxmlformats.org/officeDocument/2006/relationships/notesMaster" Target="/ppt/notesMasters/notesMaster1.xml" Id="R9ccac5349f7f4d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5215b5a844459" /><Relationship Type="http://schemas.openxmlformats.org/officeDocument/2006/relationships/notesMaster" Target="/ppt/notesMasters/notesMaster1.xml" Id="Ra95b1c439e7345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0d548b4c040d2" /><Relationship Type="http://schemas.openxmlformats.org/officeDocument/2006/relationships/notesMaster" Target="/ppt/notesMasters/notesMaster1.xml" Id="R8a35a99ca1a344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5e8300c3c94178" /><Relationship Type="http://schemas.openxmlformats.org/officeDocument/2006/relationships/notesMaster" Target="/ppt/notesMasters/notesMaster1.xml" Id="R5177d321845e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56df4ab9843ba" /><Relationship Type="http://schemas.openxmlformats.org/officeDocument/2006/relationships/notesMaster" Target="/ppt/notesMasters/notesMaster1.xml" Id="Ra7ecdcf8f9c443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18d9d5a1f549e5" /><Relationship Type="http://schemas.openxmlformats.org/officeDocument/2006/relationships/notesMaster" Target="/ppt/notesMasters/notesMaster1.xml" Id="Raa5de482e2c345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179a6519d848b6" /><Relationship Type="http://schemas.openxmlformats.org/officeDocument/2006/relationships/notesMaster" Target="/ppt/notesMasters/notesMaster1.xml" Id="R4b43f21d5eba4e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9400758b8d4d8a" /><Relationship Type="http://schemas.openxmlformats.org/officeDocument/2006/relationships/notesMaster" Target="/ppt/notesMasters/notesMaster1.xml" Id="Ree53d06a692741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5636faef5b409f" /><Relationship Type="http://schemas.openxmlformats.org/officeDocument/2006/relationships/notesMaster" Target="/ppt/notesMasters/notesMaster1.xml" Id="R9bb0d7e5793748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8f3c86ea1d4334" /><Relationship Type="http://schemas.openxmlformats.org/officeDocument/2006/relationships/notesMaster" Target="/ppt/notesMasters/notesMaster1.xml" Id="R10f05022af7548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 秒。</a:t>
            </a:r>
          </a:p>
          <a:p xmlns:a="http://schemas.openxmlformats.org/drawingml/2006/main">
            <a:r>
              <a:t>开场：NeuroEphys AI 面向在体电生理研究者，把原始数据、sorting、人工复核、事件分析、统计解码和论文图放进同一个可追溯项目。</a:t>
            </a:r>
          </a:p>
          <a:p xmlns:a="http://schemas.openxmlformats.org/drawingml/2006/main">
            <a:r>
              <a:t>声明：v1.4.0；本地优先；AI 为受控助手，不把模型回答当作生物学真值。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 秒。</a:t>
            </a:r>
          </a:p>
          <a:p xmlns:a="http://schemas.openxmlformats.org/drawingml/2006/main">
            <a:r>
              <a:t>重点：痛点不是缺少某一个分析函数，而是跨工具搬运造成上下文丢失。NeuroEphys AI 的产品逻辑因此围绕项目、证据链和追溯，而不是只增加分析按钮。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</a:t>
            </a:r>
          </a:p>
          <a:p xmlns:a="http://schemas.openxmlformats.org/drawingml/2006/main">
            <a:r>
              <a:t>从数据与项目开始，依次经过原始质控、预处理、sorting、Unit 质控、事件同步、行为、神经活动、统计、机器学习，最后进入论文与复现。任一步都可以单独运行；完整流程也支持暂停、继续和安全取消。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</a:t>
            </a:r>
          </a:p>
          <a:p xmlns:a="http://schemas.openxmlformats.org/drawingml/2006/main">
            <a:r>
              <a:t>这是与普通结果查看器最不同的一步。研究者能够切换 PC1/PC2/PC3，查看同 contact 上所有候选 cluster，套索排除离群 spike 或拆分 cluster。人工标签不是装饰，它会形成下游实际使用的候选单神经元集合；改动后系统标记下游结果过期，要求重算。</a:t>
            </a:r>
          </a:p>
          <a:p xmlns:a="http://schemas.openxmlformats.org/drawingml/2006/main">
            <a:r>
              <a:t>Offline Sorter 功能调研来源：https://plexon.com/wp-content/uploads/2017/06/Offline-Sorter-v4.3-User-Guide.pdf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</a:t>
            </a:r>
          </a:p>
          <a:p xmlns:a="http://schemas.openxmlformats.org/drawingml/2006/main">
            <a:r>
              <a:t>用户可以选择任意已导入行为事件，再查看对应 Unit tuning。Raster 采用按行为分区的彩色短杠；PSTH 之外同时给群体热图、事件前后效应量、FDR 结果和群体响应。示例用于证明流程与图形，不用于声称新的生物学发现。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</a:t>
            </a:r>
          </a:p>
          <a:p xmlns:a="http://schemas.openxmlformats.org/drawingml/2006/main">
            <a:r>
              <a:t>机器学习模块不会只给一条 ROC 曲线。这里同时提供交叉验证混淆矩阵、balanced accuracy、置换分布、F1、ROC 和随时间变化的解码。示例 AUC 为 0.764，并非人为制造的完美分类。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</a:t>
            </a:r>
          </a:p>
          <a:p xmlns:a="http://schemas.openxmlformats.org/drawingml/2006/main">
            <a:r>
              <a:t>多 Session 模块先建立动物和 Session 的层级，再运行分类或总体统计。用户可以选择按 trial、Session 或动物留出；平台提示数据泄漏风险。其目标不是堆更多模型，而是让 SVM、LDA 等结果对应正确的统计单位。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</a:t>
            </a:r>
          </a:p>
          <a:p xmlns:a="http://schemas.openxmlformats.org/drawingml/2006/main">
            <a:r>
              <a:t>AI 接入 DeepSeek Harness SDK、OpenAI Responses 或兼容接口。它能看到当前项目的结构化摘要，并按需读取事件、trial、spike、Unit 指标、图像及作图数据。用户可预览将发送的内容。AI 可以解释、提出分析方案、诊断失败原因；执行分析前仍需确认。截图中的回答要求先做 Unit QC，再做事件解释，属于与当前证据一致的建议。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</a:t>
            </a:r>
          </a:p>
          <a:p xmlns:a="http://schemas.openxmlformats.org/drawingml/2006/main">
            <a:r>
              <a:t>排版遵循实验与数据质量、行为和事件、单元及群体响应、统计与解码的主线。不显著的图不会被删除，而是进入 Extended Data 或保留在候选面板中。研究者可以选择同类 PSTH、调整顺序和图注；输出使用矢量 SVG/PDF，不依赖模糊网页截图。</a:t>
            </a:r>
          </a:p>
          <a:p xmlns:a="http://schemas.openxmlformats.org/drawingml/2006/main">
            <a:r>
              <a:t>布局参考：https://www.nature.com/articles/s41586-024-07178-6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</a:t>
            </a:r>
          </a:p>
          <a:p xmlns:a="http://schemas.openxmlformats.org/drawingml/2006/main">
            <a:r>
              <a:t>NeuroExplorer 是成熟的神经生理分析软件，官方介绍支持 50 多种文件格式、45 多种分析、可编辑图形和 Python 扩展。NeuroEphys AI 不应简单宣称替代它。本项目的差异集中在端到端项目证据链、人工 Unit 修改进入下游、多 Session 层级控制、主附图故事板和项目级 AI。</a:t>
            </a:r>
          </a:p>
          <a:p xmlns:a="http://schemas.openxmlformats.org/drawingml/2006/main">
            <a:r>
              <a:t>来源：https://www.neuroexplorer.com/features/</a:t>
            </a:r>
          </a:p>
          <a:p xmlns:a="http://schemas.openxmlformats.org/drawingml/2006/main">
            <a:r>
              <a:t>来源：https://neuroexplorer.com/docs/reference/analysis/types/index.html</a:t>
            </a:r>
          </a:p>
          <a:p xmlns:a="http://schemas.openxmlformats.org/drawingml/2006/main">
            <a:r>
              <a:t>来源：https://www.neuroexplorer.com/purchase/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 秒。</a:t>
            </a:r>
          </a:p>
          <a:p xmlns:a="http://schemas.openxmlformats.org/drawingml/2006/main">
            <a:r>
              <a:t>收尾：206 项测试通过；三套 60 秒项目完整跑通；手册链接审计无错误。下载提供标准版、Full 自选安装版和便携版。现场演示沿着一个项目完成 Unit 复核、行为选择、AI 解图和论文图。</a:t>
            </a:r>
          </a:p>
          <a:p xmlns:a="http://schemas.openxmlformats.org/drawingml/2006/main">
            <a:r>
              <a:t>总用时目标：约 8 分钟。</a:t>
            </a:r>
          </a:p>
          <a:p xmlns:a="http://schemas.openxmlformats.org/drawingml/2006/main">
            <a:r>
              <a:t>来源：项目 RELEASE_VALIDATION_1.4.md 与 DEMO_SUITE_REPORT.json。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4e998814a4f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7c7df76b54780" /><Relationship Type="http://schemas.openxmlformats.org/officeDocument/2006/relationships/slideLayout" Target="/ppt/slideLayouts/slideLayout1.xml" Id="Re88867acd85e4c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867acd85e4c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2ff20d644456c" /><Relationship Type="http://schemas.openxmlformats.org/officeDocument/2006/relationships/image" Target="/ppt/media/image.png" Id="R1b2aaa679ff342ed" /><Relationship Type="http://schemas.openxmlformats.org/officeDocument/2006/relationships/notesSlide" Target="/ppt/notesSlides/notesSlide1.xml" Id="R72465837c701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79d9bec194c60" /><Relationship Type="http://schemas.openxmlformats.org/officeDocument/2006/relationships/notesSlide" Target="/ppt/notesSlides/notesSlide2.xml" Id="R6cfda6ebbcf0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73bd650db48d7" /><Relationship Type="http://schemas.openxmlformats.org/officeDocument/2006/relationships/image" Target="/ppt/media/image2.png" Id="Rf93b1a43f13d47e3" /><Relationship Type="http://schemas.openxmlformats.org/officeDocument/2006/relationships/notesSlide" Target="/ppt/notesSlides/notesSlide3.xml" Id="R361e0cd6cc3841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51649db7a4996" /><Relationship Type="http://schemas.openxmlformats.org/officeDocument/2006/relationships/image" Target="/ppt/media/image3.png" Id="R017774966234497c" /><Relationship Type="http://schemas.openxmlformats.org/officeDocument/2006/relationships/notesSlide" Target="/ppt/notesSlides/notesSlide4.xml" Id="Rcef2a656bea5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d3658ba444f01" /><Relationship Type="http://schemas.openxmlformats.org/officeDocument/2006/relationships/image" Target="/ppt/media/image4.png" Id="Redb77f5772494fe1" /><Relationship Type="http://schemas.openxmlformats.org/officeDocument/2006/relationships/image" Target="/ppt/media/image.svg" Id="R55cddb93be374717" /><Relationship Type="http://schemas.openxmlformats.org/officeDocument/2006/relationships/image" Target="/ppt/media/image5.png" Id="R2f4c20b57c604cce" /><Relationship Type="http://schemas.openxmlformats.org/officeDocument/2006/relationships/image" Target="/ppt/media/image2.svg" Id="R1fe22c0c734a469f" /><Relationship Type="http://schemas.openxmlformats.org/officeDocument/2006/relationships/image" Target="/ppt/media/image6.png" Id="Ra5939aad636a4f50" /><Relationship Type="http://schemas.openxmlformats.org/officeDocument/2006/relationships/image" Target="/ppt/media/image3.svg" Id="Re96b8209d5134b70" /><Relationship Type="http://schemas.openxmlformats.org/officeDocument/2006/relationships/notesSlide" Target="/ppt/notesSlides/notesSlide5.xml" Id="R5783fbed095446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38875ff8d476e" /><Relationship Type="http://schemas.openxmlformats.org/officeDocument/2006/relationships/image" Target="/ppt/media/image7.png" Id="R741f8ecc915542ad" /><Relationship Type="http://schemas.openxmlformats.org/officeDocument/2006/relationships/notesSlide" Target="/ppt/notesSlides/notesSlide6.xml" Id="Rd6a232974cba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956514b664aa5" /><Relationship Type="http://schemas.openxmlformats.org/officeDocument/2006/relationships/notesSlide" Target="/ppt/notesSlides/notesSlide7.xml" Id="R64558936534644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b81d0c84d48e8" /><Relationship Type="http://schemas.openxmlformats.org/officeDocument/2006/relationships/image" Target="/ppt/media/image8.png" Id="R4039dc4000694592" /><Relationship Type="http://schemas.openxmlformats.org/officeDocument/2006/relationships/notesSlide" Target="/ppt/notesSlides/notesSlide8.xml" Id="R7ed54e6d73fd4c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505b3e8bf4b38" /><Relationship Type="http://schemas.openxmlformats.org/officeDocument/2006/relationships/image" Target="/ppt/media/image9.png" Id="R1ac3d2b908a64831" /><Relationship Type="http://schemas.openxmlformats.org/officeDocument/2006/relationships/notesSlide" Target="/ppt/notesSlides/notesSlide9.xml" Id="R82c44ab78ad14a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1f880217e49ca" /><Relationship Type="http://schemas.openxmlformats.org/officeDocument/2006/relationships/notesSlide" Target="/ppt/notesSlides/notesSlide10.xml" Id="R73d86bfd9c4948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83391812d4af6" /><Relationship Type="http://schemas.openxmlformats.org/officeDocument/2006/relationships/notesSlide" Target="/ppt/notesSlides/notesSlide11.xml" Id="R7571c72235dd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aaa679ff342ed"/>
          <a:stretch xmlns:a="http://schemas.openxmlformats.org/drawingml/2006/main"/>
        </p:blipFill>
        <p:spPr>
          <a:xfrm xmlns:a="http://schemas.openxmlformats.org/drawingml/2006/main">
            <a:off x="876300" y="1085850"/>
            <a:ext cx="1485900" cy="1485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231BB-540F-4132-995F-BABFA512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52525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NeuroEphys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51840-6808-4B03-B495-595B4D06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97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从原始电压到可审计论文图的在体电生理工作台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6DB4D-CAA2-4E9D-933C-36F8F92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05125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47A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5E4CE-B519-4B50-A2F1-12271D5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781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原始数据  ·  Spike sorting  ·  Unit 复核  ·  行为同步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统计与解码  ·  多 Session 研究  ·  论文组合图  ·  AI 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D88E-42E8-4A5C-A00A-854A2700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482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决赛路演  |  v1.4.0  |  8 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A7A6E-5B99-4644-9FE8-28402B56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245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本地优先  ·  原始记录只读  ·  分析与人工决定可追溯</a:t>
            </a:r>
          </a:p>
        </p:txBody>
      </p:sp>
    </p:spTree>
    <p:extLst>
      <p:ext uri="{BB962C8B-B14F-4D97-AF65-F5344CB8AC3E}">
        <p14:creationId xmlns:p14="http://schemas.microsoft.com/office/powerpoint/2010/main" val="1094046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4C8BF-F935-4395-A26C-AE492867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实际问题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AD4FB-B53F-405C-B0FA-D39BD1E2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电生理分析的成本主要发生在工具之间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7D197-102E-4C46-BFBE-C5E63B59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5C181-F776-4C11-9469-5E1C13B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57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D47A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1CD86-3D14-4A95-A44E-B39022AA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原始记录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FA7EB-BB49-4C12-A5AD-412106F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文件格式、通道与采样率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46875-5226-4828-8ECA-624C9C4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57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D47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11BEF-C3F6-44D3-987C-7F6B3ACE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Sorting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D12EE-F401-4FF4-AF65-3AFD9DE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运行环境与结果格式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BEAF2-D86D-4ECE-B799-21FE37FC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3257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D47A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E9114-E983-42D4-976F-EF9F27A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7ACC1-B11D-4DFC-94FC-01C8A269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主观决定难以回溯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E646B-BECB-4B51-96F6-C1E55145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257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58D3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0F368-34A2-40C5-95AB-C23CFB8F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行为同步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35DF9-E30C-4302-AAC4-089B021D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时钟与事件语义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5BD47-83D9-4549-83FD-DE793578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05200"/>
            <a:ext cx="3257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58D3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26478-5840-4439-B544-561E4189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统计解码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D2D3D-F81A-4FA5-8A0F-BF8BD19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719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参数与交叉验证层级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7FE5D-2E13-4924-9B4A-36C3118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05200"/>
            <a:ext cx="3257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58D3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FA5B8-E8A7-4440-A2E8-F92ED57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论文出图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157E2-5CE3-4696-A724-55417448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数据、图注和主附图脱节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89F4D-1606-42E5-A481-36D46E7F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1032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rPr>
              <a:t>每一次手工搬运都可能丢失参数、样本层级或排除理由。研究者最终很难回答：这张图到底来自哪份数据？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2BC16-1B3D-452C-BBFE-2522D59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45394-7CF6-4E0B-930D-732F0086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3647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72299-96AF-404C-9D5D-4B6AEB76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A3097-EADD-4283-AE95-0EFF3360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11 步证据链在一个项目中闭环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C6D73-6891-44D1-8EE2-52B946E7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1FFDF-A3E4-411E-B672-6F5CBD5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4171950"/>
          </a:xfrm>
          <a:prstGeom xmlns:a="http://schemas.openxmlformats.org/drawingml/2006/main" prst="roundRect">
            <a:avLst>
              <a:gd name="adj" fmla="val 3653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b1a43f13d47e3"/>
          <a:stretch xmlns:a="http://schemas.openxmlformats.org/drawingml/2006/main"/>
        </p:blipFill>
        <p:spPr>
          <a:xfrm xmlns:a="http://schemas.openxmlformats.org/drawingml/2006/main">
            <a:off x="2727854" y="1552575"/>
            <a:ext cx="6736292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2A35A-998D-4B4E-85A9-571A422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数据不复制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718D4-A44D-41BC-B4D0-DA41D857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原始记录保持只读链接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AB69D-8CA9-47F1-8464-C80A1616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过程可恢复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7A22F-064B-48D1-BB46-EFB53B24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057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参数、中间结果与日志随项目保存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EB7FD-789B-44A7-B12D-58FBAA6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73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FD9DA-0A1D-4AC2-A72B-89A1A00B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57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图、表、作图数据和来源互相索引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86D18-F9B7-41B4-B091-7A623044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产品截图：NeuroEphys AI v1.4.0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9C970-7656-40BB-949B-DFE98533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7816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D5172-F7A1-4B0F-B073-D6BFD89F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8E9B2-118F-4744-BB34-FC1F0C80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人工 Unit 复核直接决定下游样本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EEEB0-77F6-49B9-A996-3D7B2639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6C89F-640D-4E91-BB8D-D8215E43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04925"/>
            <a:ext cx="8858250" cy="4972050"/>
          </a:xfrm>
          <a:prstGeom xmlns:a="http://schemas.openxmlformats.org/drawingml/2006/main" prst="roundRect">
            <a:avLst>
              <a:gd name="adj" fmla="val 3065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774966234497c"/>
          <a:stretch xmlns:a="http://schemas.openxmlformats.org/drawingml/2006/main"/>
        </p:blipFill>
        <p:spPr>
          <a:xfrm xmlns:a="http://schemas.openxmlformats.org/drawingml/2006/main">
            <a:off x="855921" y="1419225"/>
            <a:ext cx="7832208" cy="4743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DBAEF-4D23-492F-BACB-DEF0A21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04950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11C2B"/>
          </a:solidFill>
          <a:ln xmlns:a="http://schemas.openxmlformats.org/drawingml/2006/main" w="9525">
            <a:solidFill>
              <a:srgbClr val="D47A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E3540-38EF-4D9B-A4ED-36C56E0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811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全部 spike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96532-91DA-4113-87DD-E26E8E28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不再抽样几百条。波形与 PCA 显示所有可读取 spike。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4D9DA-4EA7-4AC3-8BE6-BFF119A8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62300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11C2B"/>
          </a:solidFill>
          <a:ln xmlns:a="http://schemas.openxmlformats.org/drawingml/2006/main" w="9525">
            <a:solidFill>
              <a:srgbClr val="58D3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EE53B-3963-4357-A902-6449FC8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385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套索编辑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69345-F0F9-4B85-9F5B-68476ACD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9095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圈选离群 spike 可排除，也可拆成新的 Unit；每次修改可撤销。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9E6B9-964F-4A64-AAD5-FDE73783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05375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11C2B"/>
          </a:solidFill>
          <a:ln xmlns:a="http://schemas.openxmlformats.org/drawingml/2006/main" w="9525">
            <a:solidFill>
              <a:srgbClr val="D4B4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0A544-A6D0-4B33-A722-CFC39781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815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rPr>
              <a:t>原始 ID 保留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879B3-55C6-41DE-82DA-070A44B2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3402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图表使用连续 Unit 1…N，sorter 原始 cluster ID 保存在 provenance。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83B81-9EAE-44B4-BA07-DEDBC94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产品截图：NeuroEphys AI v1.4.0；教学数据为本地生成的 imperfect benchmark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D1B82-5FAE-4C27-895E-EF24D485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86428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75469-973D-425C-BC6C-F4D49536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分析结果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1F656-99D8-41CA-B1C8-1E713653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行为选择贯穿单元、群体和统计证据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1D1FD-25D1-4025-9D95-E07B36CA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42A6F-D239-4269-A1F0-A5DE3A62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3543300" cy="4638675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3534E-9215-4FED-8384-9A2B22B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192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77f5772494fe1">
            <a:extLst>
              <a:ext uri="{96DAC541-7B7A-43D3-8B79-37D633B846F1}">
                <asvg:svgBlip xmlns:asvg="http://schemas.microsoft.com/office/drawing/2016/SVG/main" r:embed="R55cddb93be3747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1695450"/>
            <a:ext cx="3200400" cy="3105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A592C-481D-4991-A5A7-E6B95FF9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C2B"/>
                </a:solidFill>
                <a:latin typeface="Microsoft YaHei"/>
                <a:ea typeface="Microsoft YaHei"/>
                <a:cs typeface="Microsoft YaHei"/>
              </a:rPr>
              <a:t>单元 raster + PSTH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462A8-2737-4063-BE22-75FE515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同一事件下保留 trial 层变异和均值响应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8D79C-237F-42C8-9D52-F104EEC2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33500"/>
            <a:ext cx="3543300" cy="4638675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08820-87AF-4FD3-B92D-809325E0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192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c20b57c604cce">
            <a:extLst>
              <a:ext uri="{96DAC541-7B7A-43D3-8B79-37D633B846F1}">
                <asvg:svgBlip xmlns:asvg="http://schemas.microsoft.com/office/drawing/2016/SVG/main" r:embed="R1fe22c0c734a46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00550" y="1695450"/>
            <a:ext cx="3200400" cy="3105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F26E8-7C31-429B-98FF-51A9E50E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053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C2B"/>
                </a:solidFill>
                <a:latin typeface="Microsoft YaHei"/>
                <a:ea typeface="Microsoft YaHei"/>
                <a:cs typeface="Microsoft YaHei"/>
              </a:rPr>
              <a:t>群体顺序热图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2B25B-A8A3-4AE3-8449-6A1100F4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673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将单元响应按效应或峰值排序，显示群体结构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29DA7-7205-491B-8EEF-1D60BD5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33500"/>
            <a:ext cx="3543300" cy="4638675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37FD9-6801-4225-9048-A5ED2883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192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39aad636a4f50">
            <a:extLst>
              <a:ext uri="{96DAC541-7B7A-43D3-8B79-37D633B846F1}">
                <asvg:svgBlip xmlns:asvg="http://schemas.microsoft.com/office/drawing/2016/SVG/main" r:embed="Re96b8209d5134b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1695450"/>
            <a:ext cx="3200400" cy="3105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A5231-8F5F-45A6-89DF-AD190152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053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C2B"/>
                </a:solidFill>
                <a:latin typeface="Microsoft YaHei"/>
                <a:ea typeface="Microsoft YaHei"/>
                <a:cs typeface="Microsoft YaHei"/>
              </a:rPr>
              <a:t>统计证据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212D1-69F1-4CFD-B438-44F9527A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673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效应量、置换检验与 FDR 结果与图直接对应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49BF5-B291-4FCF-B8E8-8F4B98B0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Raster 按行为拆分并使用经典短杠；PSTH、群体热图和统计面板共享同一事件选择。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EECC7-9628-4216-BBFC-C61C5D30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Neuropixels-like 本地教学项目 · 32 通道 · 18 Units · 11,162 spikes · 48 events · 不代表真实生物学结论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FCB80-D30E-435E-9746-1A44DFA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0509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C4762-DFDB-433D-A016-FE23F8E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机器学习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EC55C-74FE-4B13-B121-23E3B31B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解码结果同时报告性能、随机基线和不确定性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D727-85F1-40F6-B3EF-B0DD644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CE30C-C9BF-4020-BAB0-634F365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857250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f8ecc915542ad"/>
          <a:stretch xmlns:a="http://schemas.openxmlformats.org/drawingml/2006/main"/>
        </p:blipFill>
        <p:spPr>
          <a:xfrm xmlns:a="http://schemas.openxmlformats.org/drawingml/2006/main">
            <a:off x="1978623" y="1409700"/>
            <a:ext cx="5567754" cy="4610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22B6B-E6B5-40F6-8FE7-88C8160F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621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0.764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2AD5F-8A33-4084-BB3B-2ED275F3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50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ROC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001BE-BA0E-49FE-902E-D4D2B51E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0.729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DABCD-5AA4-4334-A2BE-8E0AFAF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194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平衡准确率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BDF9D-0A61-4D92-99F3-B0210DE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rPr>
              <a:t>p = 0.039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4DA1F-A0F1-4B2D-926F-E4BD6ABC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339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置换检验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95583-3459-4E0A-8BDF-9CF5F130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38800"/>
            <a:ext cx="236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教学数据故意保留漏检、误检和时间抖动，避免“完美 ROC”造成误导。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63481-9419-4C43-BA0D-A273200E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固定随机种子、本地模拟；完整作图数据与参数保存在项目中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E278E-B756-4429-8AA8-6823CA95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7909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1808D-CC1B-4AA7-92BF-5BD603E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研究扩展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2E27A-DAC8-4FC0-AF76-03C1E24A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多 Session 分析把层级结构放在模型之前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99501-A9AE-4BCD-956E-88666A3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659F4-FF7B-4AB9-8D81-12E3ED2F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C8A49-CAFF-476E-86E2-70B0F06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24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项目层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9E94C-F972-424D-8C82-629B7DC7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430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每个 Session 保留独立原始来源、参数和人工复核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91B07-CA0B-4AEC-B483-F4170953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56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DED2C-766F-4B3D-BAC5-7B6993C9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EDC0A-2AB2-44E6-B8A8-02642328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Study 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D7A2-99A6-45C0-9942-F82C9E64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按动物与 Session 汇总；禁止把 trial 当作独立动物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A8D8E-6E68-4AF6-8B21-411A07B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56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EC2E5-98D1-4333-95E0-318F8DE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5365A-E7EB-4ACB-9BA4-30816A6C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建模层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2B85C-7427-4F9E-A63F-9C26F0EC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GroupKFold / leave-one-animal-out / hierarchical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87B65-DD13-47E6-A34E-85B38C82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5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4065F-1519-4429-A72A-F925D10B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B3B7F-C383-49E2-977C-B3DA2519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95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结果层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A4C0A-99AF-4F82-87A8-EEC84E4C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总体效应、动物间变异、Session 稳定性与可复现导出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300F8-4FCD-4769-9FAC-BFBD61C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57900"/>
            <a:ext cx="9391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11C2B"/>
          </a:solidFill>
          <a:ln xmlns:a="http://schemas.openxmlformats.org/drawingml/2006/main" w="9525">
            <a:solidFill>
              <a:srgbClr val="75B6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E946F-6FA4-4371-833B-A1D0BFD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901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5B6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5B6F2"/>
                </a:solidFill>
                <a:latin typeface="Microsoft YaHei"/>
                <a:ea typeface="Microsoft YaHei"/>
                <a:cs typeface="Microsoft YaHei"/>
              </a:rPr>
              <a:t>SVM、LDA、Logistic regression 和群体轨迹只有在留出层级正确时才有可解释性。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EEFD6-DE7F-4A36-B712-CBB0E6F2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C6D10-C0B3-4B53-9B4D-61B82667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9177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E4679-A594-47FE-B429-AC47A62A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受控 AI 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A030F-AB93-4314-A1C5-461FCA0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AI 读取当前项目的证据，而不是猜测界面状态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80634-478E-4B36-824A-90C31449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2FB3D-62D1-4039-8EBF-FD5EDDA2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82677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9dc4000694592"/>
          <a:stretch xmlns:a="http://schemas.openxmlformats.org/drawingml/2006/main"/>
        </p:blipFill>
        <p:spPr>
          <a:xfrm xmlns:a="http://schemas.openxmlformats.org/drawingml/2006/main">
            <a:off x="752837" y="1419225"/>
            <a:ext cx="7562127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6034-ADD9-4526-A0A6-1C7602F2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66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可见上下文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8C510-FDBC-43FE-9114-3449181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192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当前步骤、参数、结果、日志、图像和对应作图数据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6B7B7-7DF0-4029-AD6C-915EBF0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项目查询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C0B20-3C28-4162-BC18-1D0CD193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按需读取事件、trial、spike、Unit 指标和分析表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493AB-3B28-4F18-917C-53FFF74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动作受控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BBB4F-7155-43AC-B201-1B207BAE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814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AI 先给计划；本地分析仍需用户确认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80C10-A2E1-4AAF-8646-3002A594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0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对话可找回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99462-05F5-4610-A25F-D8CB1C68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625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按项目与 11 个步骤分组，和项目一起保存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70A76-6EF0-4B3A-AEE4-4E89F7D4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AI 传输前可预览；密钥不保存在项目文件；模型能力取决于用户配置的服务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695F7-804D-43F1-95EE-03C8D43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306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827F0-FE7B-4903-9388-A4F20DF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论文出图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DD1C-78D9-44EF-BB61-5C817A0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论文与复现模块组织完整证据，而不是导出图堆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F645A-FF7B-4F0D-AD92-BA614EBE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8ACD6-E9C0-4885-A6B7-9340A5F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72390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3d2b908a64831"/>
          <a:stretch xmlns:a="http://schemas.openxmlformats.org/drawingml/2006/main"/>
        </p:blipFill>
        <p:spPr>
          <a:xfrm xmlns:a="http://schemas.openxmlformats.org/drawingml/2006/main">
            <a:off x="495300" y="1768642"/>
            <a:ext cx="7048500" cy="40065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BCCB5-4BEB-4988-94BA-0CE2E580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Figure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751CA-0BBC-4C2A-8021-BAAA768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763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实验与数据质量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BB299-E24A-4A0C-B928-FD94CAA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Figure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18738-5807-4E0A-B187-A4A942CF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431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行为和事件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55567-413E-488C-8BED-CD1873A0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9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Figure 3–4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29E0D-9F13-4385-A570-B1F810DD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992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单元与群体神经响应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F152B-2B4E-43F5-BDCA-E54F9364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Figure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D3621-B670-4C8C-8BC2-5B012CD5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统计证据与编解码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E4CFF-15A9-4CEB-86E8-033EE163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434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rPr>
              <a:t>Extended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A2C77-B03D-40C3-BA7C-B5962271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434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诊断、阴性结果与补充验证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8F452-C5F5-4AFA-A57A-50FBDDA2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7215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可上下连续查看、调换主附图、重排同类面板、修改图注，并导出 SVG/PDF/PNG。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8C0D9-4F49-4465-9D05-8E9D53F2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每个 panel 关联 plotted JSON/NPZ、参数、来源分析与原始记录索引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2B027-26B1-45E2-BFC2-5BAD353A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4537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B8077-E536-4D88-A7B0-F7831CAE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市场与差异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7309D-932D-4348-9738-1530D611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与 NeuroExplorer 的定位互补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D8417-92DE-47C7-84BC-82EC67AB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571750"/>
                <a:gridCol w="4095750"/>
                <a:gridCol w="4305300"/>
              </a:tblGrid>
              <a:tr h="585107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NeuroExplorer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NeuroEphys AI</a:t>
                      </a:r>
                    </a:p>
                  </a:txBody>
                  <a:tcPr marL="91440" marR="91440" marT="45720" marB="45720" anchor="ctr">
                    <a:solidFill>
                      <a:srgbClr val="D47AE6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成熟优势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 文件格式、45+ 分析类型、成熟交互与脚本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步项目工作流、Unit 复核、多 Session 与 AI 协作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Spike sorting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 spike detection、sort spikes 与波形比较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sorter 目录、SpikeInterface、全部 spike 套索编辑与下游筛选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统计与解码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经典统计；可通过 R/Python 扩展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FDR、效应量、分组交叉验证、时间解码与多 Session 留出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论文图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可编辑的 publication-quality graphics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主图/Extended Data 故事板、逐 panel 图注与作图数据追溯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官方功能页未把项目级 AI 助手列为核心能力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 + 作图数据 + 项目查询；执行前确认</a:t>
                      </a:r>
                    </a:p>
                  </a:txBody>
                  <a:tcPr marL="91440" marR="91440" marT="45720" marB="45720" anchor="ctr">
                    <a:solidFill>
                      <a:srgbClr val="1714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4F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获取方式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商业授权；官网列出 $180/月订阅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9AE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开源项目与 Windows Standard/Full 安装包</a:t>
                      </a:r>
                    </a:p>
                  </a:txBody>
                  <a:tcPr marL="91440" marR="91440" marT="45720" marB="45720" anchor="ctr">
                    <a:solidFill>
                      <a:srgbClr val="211C2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00CA0-25FB-4C15-BE44-9C366203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040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目标不是替代所有成熟分析软件，而是补上“从原始数据到可审计论文证据”的工作流层。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140E8-5461-4D3E-99C7-40FDB62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NeuroExplorer 功能与价格来自其官网，访问日期 2026-09-23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B6618-927D-4504-BF6C-E210AAE1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36909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5EA6A-91C7-430E-9C23-CBEE1BD0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验证与部署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59929-20BC-4559-8EA3-C6B0BB58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目前已经可以交付和现场演示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312A8-3DD8-40D9-9C9E-BEA73E02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A1E0F-714C-4D68-A9F4-8821BE5D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58D3A6"/>
                </a:solidFill>
                <a:latin typeface="Microsoft YaHei"/>
                <a:ea typeface="Microsoft YaHei"/>
                <a:cs typeface="Microsoft YaHei"/>
              </a:rPr>
              <a:t>206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B3D22-FDAE-4845-B73A-F6B20D9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自动化测试通过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515B4-AAE0-421E-8D2D-4AB0266B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668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2F804-4B0D-45C0-9F84-1EDC6ED9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完整本地教学项目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94BEE-6A3E-4DD5-9C26-EDB22007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75B6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75B6F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F3F0D-9A10-481D-B416-49E8B66E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027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sorter 集成入口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FBA45-716E-47EE-B18C-F9335AF6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4B483"/>
                </a:solidFill>
                <a:latin typeface="Microsoft YaHei"/>
                <a:ea typeface="Microsoft YaHei"/>
                <a:cs typeface="Microsoft YaHei"/>
              </a:rPr>
              <a:t>9,087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4DDFE-7FBD-4E11-8006-4C98E6AD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027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手册本地链接无错误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1C8B3-2C28-4DF6-90A6-1D67C4DF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32575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070D0-BCF4-4A65-9C64-89ABA35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标准安装版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4EDD6-818B-46F4-B782-CD59D219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适合普通 CPU 电脑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E1A7B-6A86-4BF5-B680-CA80731C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32575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D47A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738F2-31EB-4E30-B5A5-2912DAB2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956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Full 自选安装版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3D836-F452-491C-8C6F-C2EBF391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可选择 GPU / CUDA / Kilosort 组件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7DE2A-3BB4-4DC1-8638-573C964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32575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1420"/>
          </a:solidFill>
          <a:ln xmlns:a="http://schemas.openxmlformats.org/drawingml/2006/main" w="9525">
            <a:solidFill>
              <a:srgbClr val="625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D77CC-49B8-4330-9E75-F18AE21C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标准与 Full 便携版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0E566-CA6A-4EE7-86FE-F21A236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无安装权限或固定离线工作站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071D0-B774-4BFF-8C09-F988A1B7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032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4FB"/>
                </a:solidFill>
                <a:latin typeface="Microsoft YaHei"/>
                <a:ea typeface="Microsoft YaHei"/>
                <a:cs typeface="Microsoft YaHei"/>
              </a:rPr>
              <a:t>现场演示建议：导入示例项目  →  人工 Unit 复核  →  行为选择  →  AI 解读当前图  →  论文组合图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646BB-4390-4AC7-AAE8-CD9BE74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47AE6"/>
                </a:solidFill>
                <a:latin typeface="Microsoft YaHei"/>
                <a:ea typeface="Microsoft YaHei"/>
                <a:cs typeface="Microsoft YaHei"/>
              </a:rPr>
              <a:t>github.com/CarbonLack/neuroflow-ai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78884-ED8C-48D9-A060-B8B64DE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531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核心价值：减少跨工具搬运，让分析决定、结果与论文证据保持一致。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E57A8-6E7E-4891-B485-6C0D1FE3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566F"/>
                </a:solidFill>
                <a:latin typeface="Microsoft YaHei"/>
                <a:ea typeface="Microsoft YaHei"/>
                <a:cs typeface="Microsoft YaHei"/>
              </a:rPr>
              <a:t>所有指标均来自 2026-09-23 本地验证记录；示例数据为本地生成的教学数据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7070A-0D4B-400A-9763-B43E1BAC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865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AE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120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2026-09-23T01:10:47.2970000Z</dcterms:created>
  <dcterms:modified xsi:type="dcterms:W3CDTF">2026-09-23T01:10:47.2970000Z</dcterms:modified>
</coreProperties>
</file>